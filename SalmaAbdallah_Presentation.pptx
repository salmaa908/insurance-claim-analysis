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7"/>
    <p:restoredTop sz="94665"/>
  </p:normalViewPr>
  <p:slideViewPr>
    <p:cSldViewPr snapToGrid="0">
      <p:cViewPr>
        <p:scale>
          <a:sx n="101" d="100"/>
          <a:sy n="101" d="100"/>
        </p:scale>
        <p:origin x="-6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2AA7-22FF-1961-F003-D0F82320B5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493A5-B1A5-7BAA-569B-EFE20988B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4AB32-73C0-5D1C-6081-CE07BAD25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33AD-F7E4-DB49-ABE8-C8C5A95A7CB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81AC5-7801-F400-9428-E1D46990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A0392-807F-B123-F27D-A27FB2B82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B30C-5FBA-1E40-979D-6624626D5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0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0560B-614C-AFC3-9C1B-C862E016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AD7F0-B956-522A-1973-9D2016BF5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6C6F9-A263-CE18-682E-96914E3E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33AD-F7E4-DB49-ABE8-C8C5A95A7CB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29D3A-D932-2BBA-BD83-F38DCE0FB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0E1AD-0C39-0AE8-CCD6-2EF5FC6FE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B30C-5FBA-1E40-979D-6624626D5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86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3167E-BEAA-3607-138F-37787710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67FA6-E794-100D-69B6-50D8EE227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96B46-032D-CEB3-04F5-491F7F2A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33AD-F7E4-DB49-ABE8-C8C5A95A7CB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824CC-BBB6-A4B7-9758-C6F0B506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5235F-89D6-1BF7-0E86-6D828C3A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B30C-5FBA-1E40-979D-6624626D5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16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E549-890F-E86A-59D3-799D78C76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47C9-D563-59DB-5DF4-DB69D71CB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65265-1E20-8256-3208-9B6A44F0F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67FF5-027E-0484-4BA3-3403128D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33AD-F7E4-DB49-ABE8-C8C5A95A7CB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3B65C-D06A-B403-C4FD-BFAA488C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4BD38-464E-75CA-DFC5-A84C75066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B30C-5FBA-1E40-979D-6624626D5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5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0BEBA-A422-B617-3608-A76DCB684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751CF-1DE5-961D-F96F-202812309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8E1E1-A0B1-E36C-658A-FE02B8782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50ADC-C053-21C1-7D22-A7558B7AD4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E27D57-EEB9-C129-15FD-85F618D47B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2A099-FBD9-B296-CF16-2275F983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33AD-F7E4-DB49-ABE8-C8C5A95A7CB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CFBAB6-2C2E-F9C4-07D5-A8564F941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88B268-6677-86FF-F0C4-B9EDDF91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B30C-5FBA-1E40-979D-6624626D5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05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FC1AC-C423-C689-6981-FA84E2FF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FC0652-2810-111B-8526-182612125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33AD-F7E4-DB49-ABE8-C8C5A95A7CB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4B6566-2C44-08A1-E7D1-618DA2C66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0985C-34E2-D438-F90B-7BB974F6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B30C-5FBA-1E40-979D-6624626D5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5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6B7A06-5BAC-A0F1-D1A0-6D960C3BB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33AD-F7E4-DB49-ABE8-C8C5A95A7CB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ACADC2-217B-84E0-71C0-CCEAB142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39C11-FABB-8E5B-69B6-50AC7957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B30C-5FBA-1E40-979D-6624626D5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9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98E3-B673-5744-FC61-8A2DAE139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64AC8-3A9D-6A3E-7A73-E245295B5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B4558-3FCF-2905-00F4-A29E46A74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AFB02-131A-B607-31CB-FE0CB322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33AD-F7E4-DB49-ABE8-C8C5A95A7CB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9AD70-35B9-0EDF-CC22-35E1AAD45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5A323-10EE-00AC-6210-3F72FB71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B30C-5FBA-1E40-979D-6624626D5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8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25F3-733A-8305-882B-3661B23C4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60A847-30B2-C651-EDC3-3A0AE2896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8F7DC-4CAD-D9E1-7F8F-770343960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DD742-BEFA-9942-D03F-20563B80B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33AD-F7E4-DB49-ABE8-C8C5A95A7CB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6C4BD-0370-2032-3A26-50DD350C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6E4BB-65F8-7670-8499-3F8F775D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B30C-5FBA-1E40-979D-6624626D5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6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686D-788A-6B8D-90CA-20B28C612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554EA-E279-B989-1AA7-AAE8980DF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40B43-EBA3-19EB-B2DE-49AA6EFB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33AD-F7E4-DB49-ABE8-C8C5A95A7CB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8575F-DAD1-4B0F-E6DD-5B9A1BC08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C4C2E-2F46-1C70-40C3-F479F9FB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B30C-5FBA-1E40-979D-6624626D5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93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2BE8C-36C2-A6E2-D12C-EA2CB9AFB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A04F8-A7EB-5575-900C-42BB36D06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D9D2D-C1DF-1A2B-9EA0-2DC78A6F6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F33AD-F7E4-DB49-ABE8-C8C5A95A7CB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7032B-9CC8-AD02-396A-056867043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0D2BF-EAE8-1264-B209-5458F1C8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B30C-5FBA-1E40-979D-6624626D5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14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D4365-7BEC-A209-32B6-B5F00CE0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BA9E9-141F-57BD-8068-567AF74F8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99ACB-1835-EFBC-6AE7-0C8FC67E7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F33AD-F7E4-DB49-ABE8-C8C5A95A7CB6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5FB3F-7113-7D06-B1A0-6A91E18F05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A1CD0-3C3A-017D-BED5-CA66B9A5B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2B30C-5FBA-1E40-979D-6624626D5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17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Steps to Appealing Healthcare Insurance Claims | Exude">
            <a:extLst>
              <a:ext uri="{FF2B5EF4-FFF2-40B4-BE49-F238E27FC236}">
                <a16:creationId xmlns:a16="http://schemas.microsoft.com/office/drawing/2014/main" id="{D41FF5D7-6E6A-48EB-A918-285BB7163D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81" b="2669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24184-C2B4-95AF-CD3C-9027C4CB3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US" sz="1060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Medical Insurance Claim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C4FE3-8A43-538C-39AA-71F32C1E1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Salma Abdallah</a:t>
            </a:r>
          </a:p>
          <a:p>
            <a:pPr algn="l"/>
            <a:r>
              <a:rPr lang="en-US" sz="2000"/>
              <a:t>Sp26 STAT 311-50 Regression Analysis</a:t>
            </a:r>
          </a:p>
          <a:p>
            <a:pPr algn="l"/>
            <a:r>
              <a:rPr lang="en-US" sz="2000"/>
              <a:t>04/27/26</a:t>
            </a:r>
          </a:p>
        </p:txBody>
      </p:sp>
    </p:spTree>
    <p:extLst>
      <p:ext uri="{BB962C8B-B14F-4D97-AF65-F5344CB8AC3E}">
        <p14:creationId xmlns:p14="http://schemas.microsoft.com/office/powerpoint/2010/main" val="2517318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5" descr="Healthcare Analytics Market Size/Growth 2025-2035 - PharmiWeb.com">
            <a:extLst>
              <a:ext uri="{FF2B5EF4-FFF2-40B4-BE49-F238E27FC236}">
                <a16:creationId xmlns:a16="http://schemas.microsoft.com/office/drawing/2014/main" id="{B8059AFE-4B1B-9B0D-B088-50C582B82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6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Rectangle 103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B1C3E-C461-45DF-48EF-16ADADB657C9}"/>
              </a:ext>
            </a:extLst>
          </p:cNvPr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0" i="0" u="none" strike="noStrike">
                <a:effectLst/>
                <a:latin typeface="+mj-lt"/>
                <a:ea typeface="+mj-ea"/>
                <a:cs typeface="+mj-cs"/>
              </a:rPr>
              <a:t>Research Question</a:t>
            </a:r>
            <a:endParaRPr lang="en-US" sz="4000">
              <a:latin typeface="+mj-lt"/>
              <a:ea typeface="+mj-ea"/>
              <a:cs typeface="+mj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1020829-6BED-55A2-06FB-D433B6EB1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161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Healthcare costs vary widely across individuals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Understanding key drivers helps: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Insurance pricing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Risk assessment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Research Question:</a:t>
            </a:r>
            <a:endParaRPr kumimoji="0" lang="en-US" altLang="en-US" sz="19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Which variables significantly affect claim amounts?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Which predictors are most important?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AC74C5-1CE8-46F7-B6F6-70C4A39AB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870503"/>
            <a:ext cx="114193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518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 descr="kaggle-dataset · GitHub Topics · GitHub">
            <a:extLst>
              <a:ext uri="{FF2B5EF4-FFF2-40B4-BE49-F238E27FC236}">
                <a16:creationId xmlns:a16="http://schemas.microsoft.com/office/drawing/2014/main" id="{CC1A5AAD-D96A-A087-3C23-6E70107AE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8" name="Rectangle 205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A3BA43-EB1A-4CEC-E96C-DB682D502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161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Dataset Overview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Source: Kaggle (Real U.S. Insurance Data)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4,000 observations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Observational dataset (real-world data)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No experimental control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Reflects real variation in individuals</a:t>
            </a:r>
          </a:p>
        </p:txBody>
      </p:sp>
    </p:spTree>
    <p:extLst>
      <p:ext uri="{BB962C8B-B14F-4D97-AF65-F5344CB8AC3E}">
        <p14:creationId xmlns:p14="http://schemas.microsoft.com/office/powerpoint/2010/main" val="1651773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2" name="Rectangle 615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7" name="Picture 3" descr="Medical Insurance Cost Prediction — Machine Learning Case Study | by Charan  H U | Medium">
            <a:extLst>
              <a:ext uri="{FF2B5EF4-FFF2-40B4-BE49-F238E27FC236}">
                <a16:creationId xmlns:a16="http://schemas.microsoft.com/office/drawing/2014/main" id="{121CB395-E774-3AEC-574D-536D73B96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" r="16044" b="-1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4" name="Rectangle 615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684EAA-F47C-DF32-FAD1-C4C8E9EE4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Variables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what we predict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Claim Amount (continuous)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what we test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Age → affects health risk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BMI → relates to obesity/health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Gender → possible cost differences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Smoking → major health risk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Diabetes → chronic condition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Claim Status → claim category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Categorical variables converted into numeric indicators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896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 descr="The 'Methods bazaar': what did we learn about transdisciplinary methods for  sustainability? - STEPS Centre">
            <a:extLst>
              <a:ext uri="{FF2B5EF4-FFF2-40B4-BE49-F238E27FC236}">
                <a16:creationId xmlns:a16="http://schemas.microsoft.com/office/drawing/2014/main" id="{D3714D61-FE8F-8B9B-138A-AF120AC0E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62" b="13490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AE5465-5925-11B1-2CA4-51F5D1731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66" y="3752850"/>
            <a:ext cx="11548030" cy="2452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Method Overview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Multiple Linear Regression:</a:t>
            </a:r>
          </a:p>
          <a:p>
            <a:pPr marL="457200" marR="0" lvl="1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Measures relationship between variables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Stepwise Regression:</a:t>
            </a:r>
          </a:p>
          <a:p>
            <a:pPr marL="457200" marR="0" lvl="1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Removes unimportant variables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Evaluation metrics:</a:t>
            </a:r>
          </a:p>
          <a:p>
            <a:pPr marL="457200" marR="0" lvl="1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R² → how much variation is explained</a:t>
            </a:r>
          </a:p>
          <a:p>
            <a:pPr marL="457200" marR="0" lvl="1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p-values → significance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Goal: build the best possible predictive model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439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3" name="Rectangle 411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9187BD-2F7C-C529-5B0A-75B1CA6C7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Model Improvements 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Tested nonlinear effects:</a:t>
            </a:r>
          </a:p>
          <a:p>
            <a:pPr marL="457200" marR="0" lvl="1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Age², BMI²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Tested interactions:</a:t>
            </a:r>
          </a:p>
          <a:p>
            <a:pPr marL="457200" marR="0" lvl="1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BMI × Smoking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Log transformation:</a:t>
            </a:r>
          </a:p>
          <a:p>
            <a:pPr marL="457200" marR="0" lvl="1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Fix skewed data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Trying to capture complex relationships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pic>
        <p:nvPicPr>
          <p:cNvPr id="4100" name="Picture 4" descr="4 Characteristics of Today's Successful Hospital Leaders">
            <a:extLst>
              <a:ext uri="{FF2B5EF4-FFF2-40B4-BE49-F238E27FC236}">
                <a16:creationId xmlns:a16="http://schemas.microsoft.com/office/drawing/2014/main" id="{7DD1E8B3-9A53-23EA-A7A7-F04BB2744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8" r="1546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92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3" name="Rectangle 5132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Results Images - Free Download on Freepik">
            <a:extLst>
              <a:ext uri="{FF2B5EF4-FFF2-40B4-BE49-F238E27FC236}">
                <a16:creationId xmlns:a16="http://schemas.microsoft.com/office/drawing/2014/main" id="{9B43B748-DF30-FE2A-FD87-14303021A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37" b="4734"/>
          <a:stretch>
            <a:fillRect/>
          </a:stretch>
        </p:blipFill>
        <p:spPr bwMode="auto">
          <a:xfrm>
            <a:off x="180975" y="182880"/>
            <a:ext cx="11823637" cy="649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9391CC-03D5-3255-7244-06D8C228D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526300"/>
            <a:ext cx="10165218" cy="2588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</a:rPr>
              <a:t>Regression Results 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</a:rPr>
              <a:t>Model NOT significant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</a:rPr>
              <a:t>R² ≈ 0.002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</a:rPr>
              <a:t>Explains &lt;1% of variation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</a:rPr>
              <a:t>Model fails to capture real patterns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6991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3" name="Rectangle 7192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4" name="Rectangle 719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95" name="Rectangle 719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4B6F4B-8F7B-016A-03A8-AC837AF79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" y="2684095"/>
            <a:ext cx="4443154" cy="34928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+mn-lt"/>
              </a:rPr>
              <a:t>Significant Variable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n-lt"/>
              </a:rPr>
              <a:t>Only significant predictor:</a:t>
            </a:r>
          </a:p>
          <a:p>
            <a:pPr marL="457200" marR="0" lvl="1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n-lt"/>
              </a:rPr>
              <a:t>Diabetes (p ≈ 0.01)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n-lt"/>
              </a:rPr>
              <a:t>Final Model: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n-lt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n-lt"/>
              </a:rPr>
              <a:t>Claim Amount = 2936 − 71.92(Diabetes)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n-lt"/>
              </a:rPr>
              <a:t>Effect is small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n-lt"/>
              </a:rPr>
              <a:t>Not practically meaningful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pic>
        <p:nvPicPr>
          <p:cNvPr id="7171" name="Picture 3" descr="7 Tips for Choosing the Best Health Insurance for Seniors">
            <a:extLst>
              <a:ext uri="{FF2B5EF4-FFF2-40B4-BE49-F238E27FC236}">
                <a16:creationId xmlns:a16="http://schemas.microsoft.com/office/drawing/2014/main" id="{16B97CDF-276F-15AB-FED1-01DB8AB5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822587"/>
            <a:ext cx="6440424" cy="5157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930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ABDEAA-B248-4182-B67C-A925338E7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406" y="466613"/>
            <a:ext cx="3003459" cy="267521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BEBFED-2B53-EAAF-470B-1EE43A959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62" y="917132"/>
            <a:ext cx="2609562" cy="182669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014" y="3610394"/>
            <a:ext cx="2999031" cy="2674644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222F65-9AFD-442B-8F0E-AAA61F9E9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6482" y="2065135"/>
            <a:ext cx="3003459" cy="267521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F306EC-D9DE-7088-89B7-7BA30C7FF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938" y="2535225"/>
            <a:ext cx="2609562" cy="17875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97EDFBC-132D-BF37-41C4-6E6120AAD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970" y="2645922"/>
            <a:ext cx="3614334" cy="37104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Visual Results 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Age vs Claim → no pattern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BMI vs Claim → no pattern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Diabetes → slight difference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High variability across all data points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E0BED-8CDD-E0CC-4383-DD801682C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15" y="4025129"/>
            <a:ext cx="2608465" cy="189765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587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4C5EBD-05E3-82CA-D10E-3DEFFD903D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4" r="4787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AE5D72-AC23-DE4B-B2E0-1B29188A3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161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Residual Plot 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Residuals centered around zero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No clear pattern → linearity OK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Large spread → poor predictions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Model cannot accurately predict outcomes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1330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7767F1-2E01-ABE3-C6C8-DD1122C8A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94" y="2718054"/>
            <a:ext cx="3438906" cy="32072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Q-Q Plot 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Points follow line → mostly normal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Slight deviation → extreme values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Assumption acceptable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84C1D-86C7-E26E-20FC-174F8583E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204" y="841248"/>
            <a:ext cx="6785968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713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7D01D-2927-855B-5236-59CA79D148E5}"/>
              </a:ext>
            </a:extLst>
          </p:cNvPr>
          <p:cNvSpPr txBox="1"/>
          <p:nvPr/>
        </p:nvSpPr>
        <p:spPr>
          <a:xfrm>
            <a:off x="838199" y="2686323"/>
            <a:ext cx="4783697" cy="3433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i="0" dirty="0">
                <a:effectLst/>
              </a:rPr>
              <a:t>Key Findings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Most variables are NOT significant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Diabetes is the only significant predictor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Model explains almost nothing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Weak relationships overall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64980-44DB-AA04-57A0-FE6BE50C6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424" y="1759522"/>
            <a:ext cx="5365375" cy="313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79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276" name="Freeform: Shape 1127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275" name="Freeform: Shape 1127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77" name="Rectangle 1127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279" name="Rectangle 1127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9ED87-10BA-2ACA-59ED-13017ACC39EE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i="0" dirty="0">
                <a:effectLst/>
              </a:rPr>
              <a:t>Why Model Failed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Missing important variables: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Medical history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Severity of illness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Income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Insurance type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Key drivers are not included</a:t>
            </a:r>
          </a:p>
        </p:txBody>
      </p:sp>
      <p:pic>
        <p:nvPicPr>
          <p:cNvPr id="11266" name="Picture 2" descr="REVIEW EXPERIENCE | Baamboozle - Baamboozle | The Most Fun Classroom Games!">
            <a:extLst>
              <a:ext uri="{FF2B5EF4-FFF2-40B4-BE49-F238E27FC236}">
                <a16:creationId xmlns:a16="http://schemas.microsoft.com/office/drawing/2014/main" id="{160652AD-F15A-B50E-16F8-4AA5D2D93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24144" y="841248"/>
            <a:ext cx="5276088" cy="527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471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EE7F5089-66F8-1646-56F0-D927E812CC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33" r="21110" b="-2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8AA70A-30AD-9795-1D60-BB1B42A5B47E}"/>
              </a:ext>
            </a:extLst>
          </p:cNvPr>
          <p:cNvSpPr txBox="1"/>
          <p:nvPr/>
        </p:nvSpPr>
        <p:spPr>
          <a:xfrm>
            <a:off x="6803409" y="2470245"/>
            <a:ext cx="4156512" cy="3769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i="0" dirty="0">
                <a:effectLst/>
              </a:rPr>
              <a:t>Real-World Meaning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Cannot predict costs with simple variables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Healthcare costs are complex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Requires more detailed data</a:t>
            </a:r>
          </a:p>
        </p:txBody>
      </p:sp>
    </p:spTree>
    <p:extLst>
      <p:ext uri="{BB962C8B-B14F-4D97-AF65-F5344CB8AC3E}">
        <p14:creationId xmlns:p14="http://schemas.microsoft.com/office/powerpoint/2010/main" val="417593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32" name="Rectangle 12331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31" name="Rectangle 12330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290" name="Picture 2" descr="Conclusion Presentation: Over 1,748 Royalty-Free Licensable Stock  Illustrations &amp; Drawings | Shutterstock">
            <a:extLst>
              <a:ext uri="{FF2B5EF4-FFF2-40B4-BE49-F238E27FC236}">
                <a16:creationId xmlns:a16="http://schemas.microsoft.com/office/drawing/2014/main" id="{215C7A1E-7F7C-80C1-047D-4B1F9C1C6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9768" y="2364063"/>
            <a:ext cx="6702552" cy="322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2333" name="Rectangle 12332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C5837-B9B4-3D3A-060F-1926E2FF8337}"/>
              </a:ext>
            </a:extLst>
          </p:cNvPr>
          <p:cNvSpPr txBox="1"/>
          <p:nvPr/>
        </p:nvSpPr>
        <p:spPr>
          <a:xfrm>
            <a:off x="7938752" y="2020824"/>
            <a:ext cx="3455097" cy="3959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Model is weak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Data is insufficient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Better data needed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Data quality determines success</a:t>
            </a:r>
          </a:p>
        </p:txBody>
      </p:sp>
    </p:spTree>
    <p:extLst>
      <p:ext uri="{BB962C8B-B14F-4D97-AF65-F5344CB8AC3E}">
        <p14:creationId xmlns:p14="http://schemas.microsoft.com/office/powerpoint/2010/main" val="1702521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368</Words>
  <Application>Microsoft Macintosh PowerPoint</Application>
  <PresentationFormat>Widescreen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Medical Insurance Claim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Abdallah, Salma</dc:creator>
  <cp:lastModifiedBy>Abdallah, Salma</cp:lastModifiedBy>
  <cp:revision>1</cp:revision>
  <dcterms:created xsi:type="dcterms:W3CDTF">2026-04-28T01:30:51Z</dcterms:created>
  <dcterms:modified xsi:type="dcterms:W3CDTF">2026-04-28T22:49:38Z</dcterms:modified>
</cp:coreProperties>
</file>